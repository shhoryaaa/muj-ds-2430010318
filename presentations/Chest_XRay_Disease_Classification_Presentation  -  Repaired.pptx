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592" y="-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29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7498079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38BDD2"/>
                </a:solidFill>
                <a:latin typeface="Aptos"/>
              </a:defRPr>
            </a:pPr>
            <a:r>
              <a:t>DEEP LEARNING  •  MEDICAL IMAGE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7498079" cy="1965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8FAFD"/>
                </a:solidFill>
                <a:latin typeface="Aptos"/>
              </a:defRPr>
            </a:pPr>
            <a:r>
              <a:t>Multi-Label Chest X-Ray</a:t>
            </a:r>
          </a:p>
          <a:p>
            <a:pPr>
              <a:spcAft>
                <a:spcPts val="900"/>
              </a:spcAft>
              <a:defRPr sz="3400" b="1">
                <a:solidFill>
                  <a:srgbClr val="F8FAFD"/>
                </a:solidFill>
                <a:latin typeface="Aptos"/>
              </a:defRPr>
            </a:pPr>
            <a:r>
              <a:t>Disease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713232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EfficientNetV2B0, Transfer Learning, Fine-Tuning and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722376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8BDD2"/>
                </a:solidFill>
                <a:latin typeface="Aptos"/>
              </a:defRPr>
            </a:pPr>
            <a:r>
              <a:t>PROJECT PRESENTATION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234440"/>
            <a:ext cx="265176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5500" b="1">
                <a:solidFill>
                  <a:srgbClr val="F8FAF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103120"/>
            <a:ext cx="265176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Disease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65176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3600" b="1">
                <a:solidFill>
                  <a:srgbClr val="F8FAFD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931920"/>
            <a:ext cx="2651760" cy="731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Automated feature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F8773-63DD-DD1F-837E-846611D65D0D}"/>
              </a:ext>
            </a:extLst>
          </p:cNvPr>
          <p:cNvSpPr txBox="1"/>
          <p:nvPr/>
        </p:nvSpPr>
        <p:spPr>
          <a:xfrm>
            <a:off x="822960" y="4545134"/>
            <a:ext cx="2092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SHHORYA AGARWAL</a:t>
            </a:r>
          </a:p>
          <a:p>
            <a:r>
              <a:rPr lang="en-IN" dirty="0">
                <a:solidFill>
                  <a:schemeClr val="bg1"/>
                </a:solidFill>
              </a:rPr>
              <a:t>2430010318</a:t>
            </a:r>
          </a:p>
          <a:p>
            <a:r>
              <a:rPr lang="en-IN" dirty="0">
                <a:solidFill>
                  <a:schemeClr val="bg1"/>
                </a:solidFill>
              </a:rPr>
              <a:t>SECTION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This project explores automated multi-label classification of chest X-ray images.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system learns to predict 14 disease labels for each image; multiple labels may be positive at the same time.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A conventional CNN provides a baseline, while EfficientNetV2B0 uses pretrained image features.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Transfer learning, selective fine-tuning and focal loss are investigated as approaches to improve learning.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Model evaluation and explainability visualizations help analyse predictions and limitations.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system is an academic research prototype, not a clinical diagnostic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Clinical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03120"/>
            <a:ext cx="316382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Chest X-rays can show several conditions simultaneously. Reviewing images requires expertise and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Technical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03120"/>
            <a:ext cx="316382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Disease labels are imbalanced, visual patterns can be subtle, and model generalization is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Research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103120"/>
            <a:ext cx="316382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A useful model needs evaluation beyond accuracy and should provide interpretable evidence for its predictions.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98480" cy="164592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043"/>
                </a:solidFill>
                <a:latin typeface="Aptos"/>
              </a:defRPr>
            </a:pPr>
            <a:r>
              <a:t>•  Goal: investigate whether deep learning can predict multiple radiographic labels from one image.</a:t>
            </a:r>
          </a:p>
          <a:p>
            <a:pPr>
              <a:spcAft>
                <a:spcPts val="1300"/>
              </a:spcAft>
              <a:defRPr sz="1800">
                <a:solidFill>
                  <a:srgbClr val="243043"/>
                </a:solidFill>
                <a:latin typeface="Aptos"/>
              </a:defRPr>
            </a:pPr>
            <a:r>
              <a:t>•  Focus: compare a baseline CNN with a pretrained EfficientNetV2B0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Prepare and inspect the NIH ChestX-ray14 sample dataset.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Convert disease annotations into a 14-column multi-label target matrix.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Prevent patient overlap between training, validation and test splits.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Train a baseline convolutional neural network.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Apply transfer learning using pretrained EfficientNetV2B0.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Fine-tune selected backbone layers using a lower learning rate.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Investigate focal loss to address class imbalance.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Evaluate the model and inspect explainability visualizations.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Document limitations and opportunities for further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Dataset: NIH ChestX-ray14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60320" cy="141732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45336"/>
            <a:ext cx="22494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2249424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5,606 matched image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560320" cy="141732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545336"/>
            <a:ext cx="22494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011680"/>
            <a:ext cx="2249424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14 disease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560320" cy="141732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0488" y="1545336"/>
            <a:ext cx="22494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Image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2249424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43043"/>
                </a:solidFill>
                <a:latin typeface="Aptos"/>
              </a:defRPr>
            </a:pPr>
            <a:r>
              <a:t>Original images reported as 1024 × 1024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743200" cy="141732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1545336"/>
            <a:ext cx="24323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011680"/>
            <a:ext cx="2432304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Multi-label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10698480" cy="24688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Metadata includes image filenames, findings and patient identifiers.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Some images may have more than one positive disease label.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notebook uses a sample dataset rather than the full collection.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dataset includes a 'No Finding' annotation; this is represented by all 14 disease targets being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The 14 Target Disease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78992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043"/>
                </a:solidFill>
                <a:latin typeface="Aptos"/>
              </a:defRPr>
            </a:pPr>
            <a:r>
              <a:t>Each output neuron estimates the probability of one finding.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93976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01  Atelectasis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60320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93976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02  Cardiomegaly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60320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496312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624328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03  Effusion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90672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2496312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624328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04  Infiltration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090672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3026663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154679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05  Mass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21023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3026663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3154679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06  Nodule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621023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3557015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" y="3685031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07  Pneumonia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151376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0" y="3557015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3685031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08  Pneumothorax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151376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2960" y="4087368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4215383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09  Consolidation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681728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00800" y="4087368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56248" y="4215383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10  Edema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681728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4617720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4745736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11  Emphysema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212080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00800" y="4617720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56248" y="4745736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12  Fibrosis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8" y="5212080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2960" y="5148071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5276087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13  Pleural Thickening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742431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00800" y="5148071"/>
            <a:ext cx="5120640" cy="438912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56248" y="5276087"/>
            <a:ext cx="4809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14  Hernia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5742431"/>
            <a:ext cx="4809744" cy="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243043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notebook inspects dataset dimensions, patient counts, image dimensions and finding frequencies.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 the recorded run, 5,606 images were matched to metadata.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recorded sample contains 4,230 unique patients.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3,044 images (54.3%) were annotated as 'No Finding'.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Infiltration was the most frequent positive finding in the recorded sample.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Hernia was extremely rare, illustrating the class-imbalance problem.</a:t>
            </a:r>
          </a:p>
        </p:txBody>
      </p:sp>
      <p:pic>
        <p:nvPicPr>
          <p:cNvPr id="8" name="Picture 7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17520"/>
            <a:ext cx="4572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End-to-End System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01 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488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Images + CSV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57400"/>
            <a:ext cx="320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96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82495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02 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488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Validate files and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320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96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682495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03  Splitting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1488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Patient-level train/val/test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3989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04 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062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Resize to 224 × 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114800"/>
            <a:ext cx="320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96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118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373989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05 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062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CNN and EfficientNetV2B0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114800"/>
            <a:ext cx="320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96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611880"/>
            <a:ext cx="342900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73989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06 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06240"/>
            <a:ext cx="311810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Metrics and visual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43043"/>
                </a:solidFill>
                <a:latin typeface="Aptos"/>
              </a:defRPr>
            </a:pPr>
            <a:r>
              <a:t>Outputs: predicted label probabilities, evaluation summaries and explanation visualizations.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Data Preparation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Automatically locate the metadata CSV and corresponding image files.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Match each metadata record to its image path.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Create one binary target column for each of the 14 diseases.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Remove duplicate image records and check image readability.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Resize images to 224 × 224 and convert them to three channels.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Batch and prefetch data through TensorFlow's tf.data pipeline.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Apply modest brightness, contrast, rotation, translation and zoom changes to training images only.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Avoid horizontal flipping to preserve left-right anatomical orientation.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Patient-Level Train / Validation /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48840"/>
            <a:ext cx="302666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3,931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48840"/>
            <a:ext cx="302666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849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33756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148840"/>
            <a:ext cx="302666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826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0698480" cy="24688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The recorded run assigned patients to separate splits before sampling.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Training data is used to fit model parameters.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Validation data helps monitor performance and model selection.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Test data is reserved for final evaluation.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The notebook asserts that patient identifiers do not overlap across splits.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This reduces the risk of overly optimistic results caused by images from the same patient appearing in multiple splits.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Baseline Model: Convolutional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baseline provides a reference point for the transfer-learning models.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Three convolutional blocks use 32, 64 and 128 filters.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Batch normalization and ReLU activation support feature learning.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Max pooling reduces spatial dimensions; dropout helps regularization.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Global average pooling feeds a 14-unit sigmoid output layer.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Binary cross-entropy is used for the multi-label targets.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notebook trains the baseline for up to five epochs.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480560"/>
            <a:ext cx="3657600" cy="9144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4608576"/>
            <a:ext cx="33467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Recorded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074920"/>
            <a:ext cx="3346704" cy="20116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95,950 total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EfficientNetV2B0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Pretrained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302666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ImageNet-pretrained EfficientNetV2B0 extracts image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Classification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48840"/>
            <a:ext cx="302666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Global average pooling, batch normalization and dropout.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54480"/>
            <a:ext cx="333756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1682495"/>
            <a:ext cx="30266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Output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48840"/>
            <a:ext cx="302666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14 sigmoid outputs, one for each disease label.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recorded architecture contains approximately 5.94 million parameters.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Initially, the backbone is frozen while the classification head is trained.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Pretrained weights provide a starting point rather than requiring all features to be learned from scratch.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Stage 1: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Load EfficientNetV2B0 with pretrained ImageNet weights.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Freeze the backbone to retain its pretrained feature representations.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Train the new 14-label classification head on chest X-ray images.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Use binary cross-entropy and multi-label AUC as the training objective and monitoring metric, respectively.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Use early stopping, best-checkpoint saving and learning-rate reduction.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recorded training configuration allows up to six epochs.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663440"/>
            <a:ext cx="3566160" cy="86868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4791455"/>
            <a:ext cx="325526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5257800"/>
            <a:ext cx="3255264" cy="15544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43043"/>
                </a:solidFill>
                <a:latin typeface="Aptos"/>
              </a:defRPr>
            </a:pPr>
            <a:r>
              <a:t>Adapt the classifier before updating backbone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Stage 2: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Unfreeze selected later layers of EfficientNetV2B0.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Keep earlier layers frozen to preserve general low-level features.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Keep batch-normalization layers frozen during backbone fine-tuning.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Use a low learning rate with a cosine-decay schedule.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Fine-tune the network to adapt higher-level features to radiographic patterns.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Early stopping and checkpointing help retain a strong validation checkpoint.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572000"/>
            <a:ext cx="3749039" cy="9144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4700016"/>
            <a:ext cx="34381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Recorded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166360"/>
            <a:ext cx="3438144" cy="20116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43043"/>
                </a:solidFill>
                <a:latin typeface="Aptos"/>
              </a:defRPr>
            </a:pPr>
            <a:r>
              <a:t>Last 30% of backbone layers selected for unfreezing.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Handling Class Imbalance with Focal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Disease frequencies differ substantially across the dataset.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A model may favor common or negative labels while missing rare positive cases.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Focal loss reduces the contribution of easy examples and emphasizes harder ones.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notebook creates an imbalance-aware model initialized from the fine-tuned model.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focal-loss model is trained with a separate low-learning-rate configuration.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Its value must be established empirically using validation and test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Evaluation: What the Metrics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0312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Measures ranking discrimination across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0312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Of predicted positives, the fraction that are truly 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163677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10312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Of actual positives, the fraction successfully detected.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55701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02336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Harmonic mean of precision and recall.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2900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55701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Binary cross-entropy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02336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Measures prediction error for binary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429000"/>
            <a:ext cx="3474720" cy="150876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6448" y="3557016"/>
            <a:ext cx="316382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4023360"/>
            <a:ext cx="3163824" cy="79552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Summarizes true/false positives and negatives per label.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043"/>
                </a:solidFill>
                <a:latin typeface="Aptos"/>
              </a:defRPr>
            </a:pPr>
            <a:r>
              <a:t>For multi-label classification, metrics should be examined per disease and with clearly stated averaging and threshold choices.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RESULTS AND VISUAL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Training Curves: Loss and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49807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554480"/>
            <a:ext cx="3246120" cy="4206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43043"/>
                </a:solidFill>
                <a:latin typeface="Aptos"/>
              </a:defRPr>
            </a:pPr>
            <a:r>
              <a:t>Solid and dashed lines distinguish training and validation curves. Inspect whether loss decreases, validation performance improves, and a widening train-validation gap suggests overfitting.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Model Comparison: Recorded Validation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D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D"/>
                          </a:solidFill>
                        </a:defRPr>
                      </a:pPr>
                      <a:r>
                        <a:t>Best validation AUC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D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Baseline CNN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0.5837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EfficientNetV2B0 — Transfer Learning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0.6973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EfficientNetV2B0 — Fine-Tuning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0.7073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Focal-Loss Model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0.7097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04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120640"/>
            <a:ext cx="10424160" cy="6858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Extracted from the available in-memory training histories.</a:t>
            </a:r>
          </a:p>
          <a:p>
            <a:pPr>
              <a:spcAft>
                <a:spcPts val="9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Validation AUC is not test-set performance and does not establish clinical readiness.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Explainable AI: Understanding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3677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96ABE"/>
                </a:solidFill>
                <a:latin typeface="Aptos"/>
              </a:defRPr>
            </a:pPr>
            <a:r>
              <a:t>Grad-CAM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311810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Highlights image regions that contribute to a selected model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63677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38BDD2"/>
                </a:solidFill>
                <a:latin typeface="Aptos"/>
              </a:defRPr>
            </a:pPr>
            <a:r>
              <a:t>Heatmap overlays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03120"/>
            <a:ext cx="311810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Overlay the activation map on the original X-ray for visual inspection.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29000" cy="1828800"/>
          </a:xfrm>
          <a:prstGeom prst="roundRect">
            <a:avLst/>
          </a:prstGeom>
          <a:solidFill>
            <a:srgbClr val="E7F0FA"/>
          </a:solidFill>
          <a:ln>
            <a:solidFill>
              <a:srgbClr val="D7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A967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103120"/>
            <a:ext cx="3118104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043"/>
                </a:solidFill>
                <a:latin typeface="Aptos"/>
              </a:defRPr>
            </a:pPr>
            <a:r>
              <a:t>Check whether attention appears in plausible regions; explanations are not proof of clinical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0698480" cy="182880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Explainability helps make model behavior easier to inspect.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Different diseases and images can produce different activation patterns.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Heatmaps may also highlight irrelevant features or acquisition artifacts.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A visually plausible heatmap does not guarantee a correct prediction.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Only include explanation images actually generated by the notebook.</a:t>
            </a:r>
          </a:p>
        </p:txBody>
      </p:sp>
      <p:pic>
        <p:nvPicPr>
          <p:cNvPr id="17" name="Picture 16" descr="gradcam_visualiz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840480"/>
            <a:ext cx="3017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How a Multi-Label Prediction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Input: one chest X-ray image.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neural network extracts spatial and semantic features.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final sigmoid layer outputs 14 independent probabilities.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A selected threshold converts probabilities into positive/negative labels.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More than one disease label may be predicted for a single image.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Thresholds affect the precision-recall trade-off and should be selected using validation data, not the test set.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Limitations and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The notebook uses a sample rather than the complete NIH dataset.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Rare labels may have too few examples for reliable evaluation.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Dataset annotations can contain uncertainty or noise.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Performance on this dataset may not transfer to other hospitals or scanners.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AUC alone does not capture all clinically relevant error types.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Grad-CAM visualizations are approximate explanations, not causal evidence.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The prototype is not intended for autonomous diagnosis or treatment decisions.</a:t>
            </a:r>
          </a:p>
          <a:p>
            <a:pPr>
              <a:spcAft>
                <a:spcPts val="13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External validation, expert review, calibration and prospective testing would be required before any clinical application.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Conclusion and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Built a multi-label deep-learning pipeline for 14 chest X-ray findings.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Used patient-level data separation to reduce leakage risk.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Established a baseline CNN and investigated pretrained EfficientNetV2B0.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Explored transfer learning, selective fine-tuning and focal loss.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Used evaluation metrics and training curves to inspect model behavior.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Added explainability as a way to visually audit selected predictions.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Reliable medical AI requires more data, external validation and careful interpretation.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Evaluate the final model on a completely held-out test set.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Report per-class precision, recall, F1, AUC and confidence intervals.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Tune decision thresholds using validation data.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Investigate calibrated probabilities and improved class-imbalance methods.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Test on external datasets from different clinical settings.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Evaluate explanation stability and possible shortcut learning.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Consider subgroup performance and fairness analysis.</a:t>
            </a:r>
          </a:p>
          <a:p>
            <a:pPr>
              <a:spcAft>
                <a:spcPts val="13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Conduct expert-led review before considering any clinical workflow.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9260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296ABE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E1C34"/>
                </a:solidFill>
                <a:latin typeface="Aptos"/>
              </a:defRPr>
            </a:pPr>
            <a:r>
              <a:t>References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CHEST X-RAY CLASSIFICATION  | 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900" b="1">
                <a:solidFill>
                  <a:srgbClr val="296A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526280"/>
          </a:xfrm>
          <a:prstGeom prst="rect">
            <a:avLst/>
          </a:prstGeom>
          <a:noFill/>
        </p:spPr>
        <p:txBody>
          <a:bodyPr wrap="square" lIns="118872" rIns="109728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Wang et al. (2017). ChestX-ray8: Hospital-scale Chest X-ray Database and Benchmarks on Weakly-Supervised Classification and Localization of Common Thorax Diseases. CVPR.</a:t>
            </a:r>
          </a:p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Tan and Le (2021). EfficientNetV2: Smaller Models and Faster Training. Proceedings of ICML.</a:t>
            </a:r>
          </a:p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Selvaraju et al. (2017). Grad-CAM: Visual Explanations from Deep Networks via Gradient-Based Localization. ICCV.</a:t>
            </a:r>
          </a:p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TensorFlow / Keras documentation: EfficientNetV2, image preprocessing, model training and evaluation.</a:t>
            </a:r>
          </a:p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NIH ChestX-ray dataset metadata and the sample dataset used in this notebook.</a:t>
            </a:r>
          </a:p>
          <a:p>
            <a:pPr>
              <a:spcAft>
                <a:spcPts val="1300"/>
              </a:spcAft>
              <a:defRPr sz="1500">
                <a:solidFill>
                  <a:srgbClr val="243043"/>
                </a:solidFill>
                <a:latin typeface="Aptos"/>
              </a:defRPr>
            </a:pPr>
            <a:r>
              <a:t>•  Project implementation, training histories and outputs from the Google Colab notebook.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Verify exact bibliographic details and dataset licensing before submission.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4200" b="1">
                <a:solidFill>
                  <a:srgbClr val="F8FAF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Multi-Label Chest X-Ray Disease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2131</Words>
  <Application>Microsoft Office PowerPoint</Application>
  <PresentationFormat>Widescreen</PresentationFormat>
  <Paragraphs>317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Agarwal</cp:lastModifiedBy>
  <cp:revision>2</cp:revision>
  <dcterms:created xsi:type="dcterms:W3CDTF">2013-01-27T09:14:16Z</dcterms:created>
  <dcterms:modified xsi:type="dcterms:W3CDTF">2026-10-21T22:08:26Z</dcterms:modified>
  <cp:category/>
</cp:coreProperties>
</file>